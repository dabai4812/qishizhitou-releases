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D"/>
          </a:solidFill>
          <a:ln>
            <a:solidFill>
              <a:srgbClr val="10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8334A"/>
          </a:solidFill>
          <a:ln>
            <a:solidFill>
              <a:srgbClr val="183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325880" cy="1325880"/>
          </a:xfrm>
          <a:prstGeom prst="roundRect">
            <a:avLst>
              <a:gd name="adj" fmla="val 8000"/>
            </a:avLst>
          </a:prstGeom>
          <a:solidFill>
            <a:srgbClr val="10243D"/>
          </a:solidFill>
          <a:ln>
            <a:solidFill>
              <a:srgbClr val="10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9507" y="1632204"/>
            <a:ext cx="689457" cy="556869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22095" y="1937156"/>
            <a:ext cx="132588" cy="198882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0977" y="1831086"/>
            <a:ext cx="132588" cy="304952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19859" y="1976932"/>
            <a:ext cx="132588" cy="159105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22095" y="2268626"/>
            <a:ext cx="477316" cy="59664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72894" y="1446580"/>
            <a:ext cx="172364" cy="172364"/>
          </a:xfrm>
          <a:prstGeom prst="ellipse">
            <a:avLst/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25880"/>
            <a:ext cx="640080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期市智投</a:t>
            </a:r>
            <a:endParaRPr sz="38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9152" y="2148840"/>
            <a:ext cx="6400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0">
                <a:solidFill>
                  <a:srgbClr val="D2E1E8"/>
                </a:solidFill>
                <a:latin typeface="微软雅黑"/>
              </a:rPr>
              <a:t>量化研究 · 历史回放 · 盘中模拟交易</a:t>
            </a:r>
            <a:endParaRPr sz="2000" b="0">
              <a:solidFill>
                <a:srgbClr val="D2E1E8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59152" y="2834640"/>
            <a:ext cx="1600200" cy="347472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2871216"/>
            <a:ext cx="160020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用户使用说明书</a:t>
            </a:r>
            <a:endParaRPr sz="11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59152" y="3401568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E3B341"/>
                </a:solidFill>
                <a:latin typeface="微软雅黑"/>
              </a:rPr>
              <a:t>版本 1.1.4</a:t>
            </a:r>
            <a:endParaRPr sz="1500" b="1">
              <a:solidFill>
                <a:srgbClr val="E3B341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59152" y="3822191"/>
            <a:ext cx="4572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B0C4CF"/>
                </a:solidFill>
                <a:latin typeface="微软雅黑"/>
              </a:rPr>
              <a:t>适用于 macOS / Windows 构建版本</a:t>
            </a:r>
            <a:endParaRPr sz="1400" b="0">
              <a:solidFill>
                <a:srgbClr val="B0C4CF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08" y="5797296"/>
            <a:ext cx="7315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BECFD7"/>
                </a:solidFill>
                <a:latin typeface="微软雅黑"/>
              </a:rPr>
              <a:t>本工具用于研究、回测与模拟交易，不构成投资建议。</a:t>
            </a:r>
            <a:endParaRPr sz="1300" b="0">
              <a:solidFill>
                <a:srgbClr val="BECFD7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698480" y="5806440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800" b="1">
                <a:solidFill>
                  <a:srgbClr val="E3B341"/>
                </a:solidFill>
                <a:latin typeface="微软雅黑"/>
              </a:rPr>
              <a:t>01</a:t>
            </a:r>
            <a:endParaRPr sz="1800" b="1">
              <a:solidFill>
                <a:srgbClr val="E3B341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使用概览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先了解系统能做什么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2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5669280" cy="4114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研究</a:t>
            </a:r>
            <a:r>
              <a:rPr sz="1700">
                <a:solidFill>
                  <a:srgbClr val="18232D"/>
                </a:solidFill>
                <a:latin typeface="微软雅黑"/>
              </a:rPr>
              <a:t>用历史日线或 5 分钟行情验证策略信号与交易规则。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回放</a:t>
            </a:r>
            <a:r>
              <a:rPr sz="1700">
                <a:solidFill>
                  <a:srgbClr val="18232D"/>
                </a:solidFill>
                <a:latin typeface="微软雅黑"/>
              </a:rPr>
              <a:t>在指定交易日或连续交易日中逐根推进、自动播放历史行情。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模拟</a:t>
            </a:r>
            <a:r>
              <a:rPr sz="1700">
                <a:solidFill>
                  <a:srgbClr val="18232D"/>
                </a:solidFill>
                <a:latin typeface="微软雅黑"/>
              </a:rPr>
              <a:t>使用实时行情进行本地模拟盘自动交易，不连接实盘资金。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分析</a:t>
            </a:r>
            <a:r>
              <a:rPr sz="1700">
                <a:solidFill>
                  <a:srgbClr val="18232D"/>
                </a:solidFill>
                <a:latin typeface="微软雅黑"/>
              </a:rPr>
              <a:t>查看会话、交易日志、胜率、回撤、费用和策略准入漏斗。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维护</a:t>
            </a:r>
            <a:r>
              <a:rPr sz="1700">
                <a:solidFill>
                  <a:srgbClr val="18232D"/>
                </a:solidFill>
                <a:latin typeface="微软雅黑"/>
              </a:rPr>
              <a:t>后台采集全合约 5 分钟数据，新闻雷达和版本更新独立可用。</a:t>
            </a:r>
            <a:endParaRPr sz="17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12280" y="1691640"/>
            <a:ext cx="4297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12280" y="1691640"/>
            <a:ext cx="73152" cy="20574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1736" y="1856232"/>
            <a:ext cx="3886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重要边界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1736" y="2258568"/>
            <a:ext cx="3886200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默认使用本地模拟撮合。SimNow 需要单独配置账号和前置地址；任何模式都不会自动接入真实期货账户。正式交易前必须以期货公司、交易所和合约规则为准。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4297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12280" y="3977639"/>
            <a:ext cx="73152" cy="16002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31736" y="4142231"/>
            <a:ext cx="38862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推荐使用顺序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1736" y="4544568"/>
            <a:ext cx="38862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先用真实历史数据回测，再做历史行情回放，最后才启动盘中模拟交易。每次只验证一个明确的问题，避免把参数、品种和数据源同时改变。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第一步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启动与版本选择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3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双击正式版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79" y="20116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79" y="18288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20116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等待服务启动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23559" y="182880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011680"/>
            <a:ext cx="200253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浏览器打开本地页面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0116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66759" y="18288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20116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确认版本号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73152" cy="13716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" y="3867911"/>
            <a:ext cx="2971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日常使用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6695" y="4270248"/>
            <a:ext cx="297180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打开桌面的“期市智投-正式版.app”或正式安装包。正式版适合日常行情、回测和模拟交易。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3703320"/>
            <a:ext cx="73152" cy="13716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3867911"/>
            <a:ext cx="2971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源码开发版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54296" y="4270248"/>
            <a:ext cx="297180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只用于修改源码、验证新功能和排查问题。不要同时运行正式版和源码版，避免端口、采集任务和数据库并发。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92440" y="370332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3703320"/>
            <a:ext cx="73152" cy="13716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3867911"/>
            <a:ext cx="2971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版本检查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11896" y="4270248"/>
            <a:ext cx="2971800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顶部版本号旁的按钮可以读取公开 Release。当前版本显示为 v1.1.4 时，说明启动的是最新构建。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界面地图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顶部导航与页面分工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4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76479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盘中行情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16712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报价、分钟 K 线、模拟盘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80" y="160020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76479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模拟统计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5736" y="216712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会话、胜率、交易明细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21040" y="160020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60020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176479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策略诊断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0496" y="216712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准入漏斗、拦截原因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63931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新闻雷达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976" y="404164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关联新闻、刷新和提醒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26280" y="347472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47472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363931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行情 K 线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45736" y="404164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独立 K 线、采集状态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21040" y="347472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3474720"/>
            <a:ext cx="73152" cy="132588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3639312"/>
            <a:ext cx="28346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回测结果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40496" y="4041648"/>
            <a:ext cx="2834639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指标、净值、交易标记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9875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65727D"/>
                </a:solidFill>
                <a:latin typeface="微软雅黑"/>
              </a:rPr>
              <a:t>顶部右侧的采集状态会显示后台行情采集是否运行、完成或失败。</a:t>
            </a:r>
            <a:endParaRPr sz="1500" b="0">
              <a:solidFill>
                <a:srgbClr val="65727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回测设置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第一次回测：先选数据和品种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5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640080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数据模式</a:t>
            </a:r>
            <a:r>
              <a:rPr sz="1600">
                <a:solidFill>
                  <a:srgbClr val="18232D"/>
                </a:solidFill>
                <a:latin typeface="微软雅黑"/>
              </a:rPr>
              <a:t>合成数据适合离线演示；真实行情需要本地数据库或网络。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交易所 / 品种</a:t>
            </a:r>
            <a:r>
              <a:rPr sz="1600">
                <a:solidFill>
                  <a:srgbClr val="18232D"/>
                </a:solidFill>
                <a:latin typeface="微软雅黑"/>
              </a:rPr>
              <a:t>先选交易所，再选品种；也可用搜索品种输入名称或代码。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合约月份</a:t>
            </a:r>
            <a:r>
              <a:rPr sz="1600">
                <a:solidFill>
                  <a:srgbClr val="18232D"/>
                </a:solidFill>
                <a:latin typeface="微软雅黑"/>
              </a:rPr>
              <a:t>自动识别活跃合约，或手动锁定具体月份。锁定后会成为本次行情与交易依据。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回测周期</a:t>
            </a:r>
            <a:r>
              <a:rPr sz="1600">
                <a:solidFill>
                  <a:srgbClr val="18232D"/>
                </a:solidFill>
                <a:latin typeface="微软雅黑"/>
              </a:rPr>
              <a:t>日线用于跨日研究；5 分钟用于日内回放和日内策略。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时间范围</a:t>
            </a:r>
            <a:r>
              <a:rPr sz="1600">
                <a:solidFill>
                  <a:srgbClr val="18232D"/>
                </a:solidFill>
                <a:latin typeface="微软雅黑"/>
              </a:rPr>
              <a:t>日线可按日期筛选；分钟回放最多按实际交易日计算，周末、节假日和无行情日期不占额度。</a:t>
            </a:r>
            <a:endParaRPr sz="16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73152" cy="196596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3256" y="2039112"/>
            <a:ext cx="315467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没有行情时怎么办？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3256" y="2441448"/>
            <a:ext cx="3154679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先看“行情 K 线”页面的本地数据范围；如果选择具体合约月份，可执行补采。错误提示会给出合约、周期和可用日期范围。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43800" y="4251960"/>
            <a:ext cx="35661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4251960"/>
            <a:ext cx="73152" cy="150876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4416552"/>
            <a:ext cx="315467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夜盘归属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63256" y="4818888"/>
            <a:ext cx="3154679" cy="8229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前一自然日 20:00 以后产生的夜盘数据，归入下一交易日。选择交易日时按交易日理解，不按自然日简单截断。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策略体系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策略选择：先选类型，再选策略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6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8105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日线策略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212848"/>
            <a:ext cx="484632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唐奇安通道、双均线、三重均线、肯特纳通道、布林带反转、RSI 反转、时序动量、日线趋势跟随、日线布林趋势过滤。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8105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日内策略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91656" y="2212848"/>
            <a:ext cx="484632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增强开盘区间突破、增强 VWAP 趋势回踩、布林带挤压突破、多指标日内共振、ATR 动态波动突破、多周期动量突破、多周期趋势确认、双重推力突破、布林通道趋势过滤。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42336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策略类别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6695" y="463600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突破交易：寻找区间突破；趋势交易：跟随方向和均线；均值回归：在超买超卖或通道边界反向交易。策略说明会提示适用品种和适用行情。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406908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406908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2336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使用原则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1656" y="463600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先固定品种、周期和时间范围，再比较策略。不要因为一次回测盈利就直接用于盘中交易。建议至少积累足够交易样本，并在多个品种上交叉验证。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回测规则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回测用途：严格模拟与研究信号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7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52578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73152" cy="29260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严格模拟回测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2416" y="2212848"/>
            <a:ext cx="4846320" cy="2240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0">
                <a:solidFill>
                  <a:srgbClr val="18232D"/>
                </a:solidFill>
                <a:latin typeface="微软雅黑"/>
              </a:rPr>
              <a:t>执行成本准入、净盈亏比、行情过滤、冷却期、手续费、滑点、止盈止损、保证金、每日交易限制和强平规则。最接近模拟盘运行逻辑。</a:t>
            </a:r>
            <a:endParaRPr sz="17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645920"/>
            <a:ext cx="52578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73152" cy="29260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8105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研究信号回测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91656" y="2212848"/>
            <a:ext cx="4846320" cy="2240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0">
                <a:solidFill>
                  <a:srgbClr val="18232D"/>
                </a:solidFill>
                <a:latin typeface="微软雅黑"/>
              </a:rPr>
              <a:t>旁路成本准入、净盈亏比和行情过滤，用来观察策略原始信号质量；手续费、滑点、止盈止损、账户风控和强平仍然执行。</a:t>
            </a:r>
            <a:endParaRPr sz="17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98755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800" b="1">
                <a:solidFill>
                  <a:srgbClr val="EF6B62"/>
                </a:solidFill>
                <a:latin typeface="微软雅黑"/>
              </a:rPr>
              <a:t>盘中自动交易固定使用严格模拟规则，不会进入研究信号模式。</a:t>
            </a:r>
            <a:endParaRPr sz="1800" b="1">
              <a:solidFill>
                <a:srgbClr val="EF6B62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日内准入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策略准入：为什么有信号但没有开仓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8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策略原始信号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79" y="192024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79" y="17373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92024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成本覆盖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6360" y="192024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23559" y="17373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92024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净盈亏比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192024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73736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920240"/>
            <a:ext cx="200253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行情 / 冷却 / 风控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78440" y="192024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835640" y="173736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08792" y="192024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实际开仓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246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24612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341071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交易成本后准入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695" y="3813048"/>
            <a:ext cx="30175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最低成本覆盖倍数要求潜在收益足以覆盖手续费、滑点和止损风险。成本占比过高时会拦截信号。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0" y="3246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24612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41071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最低净盈亏比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08576" y="3813048"/>
            <a:ext cx="30175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以止盈、止损、手续费和滑点后的预期净结果判断，不是只看毛收益。设置过高会明显减少开仓。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01000" y="3246120"/>
            <a:ext cx="34290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324612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341071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适用行情 + 冷却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0456" y="3813048"/>
            <a:ext cx="30175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自动匹配趋势、震荡或高波动环境；平仓后冷却若干根 K 线，避免连续反复开仓。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5577840"/>
            <a:ext cx="10058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65727D"/>
                </a:solidFill>
                <a:latin typeface="微软雅黑"/>
              </a:rPr>
              <a:t>在“策略诊断”中查看每一层通过数量和主要拦截原因。</a:t>
            </a:r>
            <a:endParaRPr sz="1500" b="0">
              <a:solidFill>
                <a:srgbClr val="65727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高级设置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账户与风控参数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9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76479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初始权益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167128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回测或模拟账户起始资金；保存配置后用于加载。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26279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79" y="160020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76479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手续费 / 滑点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45736" y="2167128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按每手费用和价格滑移估算真实交易成本。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75319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19" y="160020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4776" y="176479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保证金 / 杠杆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94776" y="2167128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影响可开仓手数和资金占用，不代表期货公司真实授信。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3566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56616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" y="373075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止损止盈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5" y="4133087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固定比例模式按百分比；ATR 模式按 ATR 周期和倍数。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26279" y="3566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79" y="356616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5736" y="373075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单笔风险 / 最大手数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45736" y="4133087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限制单笔损失和绝对手数，上限取更严格者。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75319" y="3566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356616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4776" y="3730752"/>
            <a:ext cx="28803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每日交易 / 亏损上限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94776" y="4133087"/>
            <a:ext cx="288036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达到次数或当日亏损熔断后停止新开仓；日终规则按交易日执行。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65727D"/>
                </a:solidFill>
                <a:latin typeface="微软雅黑"/>
              </a:rPr>
              <a:t>修改高级设置后，点击“保存配置”保存为可重复加载的交易配置；账户权益的重置操作另有确认提示。</a:t>
            </a:r>
            <a:endParaRPr sz="1400" b="0">
              <a:solidFill>
                <a:srgbClr val="65727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回测结果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运行回测与阅读结果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10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选择参数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79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7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运行回测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636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2355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查看指标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查看净值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104119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61319" y="160020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34472" y="1783080"/>
            <a:ext cx="200253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查看 K 线标记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2926080"/>
            <a:ext cx="5852160" cy="2560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核心指标</a:t>
            </a:r>
            <a:r>
              <a:rPr sz="1600">
                <a:solidFill>
                  <a:srgbClr val="18232D"/>
                </a:solidFill>
                <a:latin typeface="微软雅黑"/>
              </a:rPr>
              <a:t>累计收益、年化收益、夏普比率、最大回撤、卡玛比率、胜率、盈亏比。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交易明细</a:t>
            </a:r>
            <a:r>
              <a:rPr sz="1600">
                <a:solidFill>
                  <a:srgbClr val="18232D"/>
                </a:solidFill>
                <a:latin typeface="微软雅黑"/>
              </a:rPr>
              <a:t>查看开仓、平仓、方向、价格、手数、手续费和交易原因。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K 线标记</a:t>
            </a:r>
            <a:r>
              <a:rPr sz="1600">
                <a:solidFill>
                  <a:srgbClr val="18232D"/>
                </a:solidFill>
                <a:latin typeface="微软雅黑"/>
              </a:rPr>
              <a:t>多、空表示开仓方向；平多、平空表示平仓方向。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数据边界</a:t>
            </a:r>
            <a:r>
              <a:rPr sz="1600">
                <a:solidFill>
                  <a:srgbClr val="18232D"/>
                </a:solidFill>
                <a:latin typeface="微软雅黑"/>
              </a:rPr>
              <a:t>回测结果受本地数据范围、合约换月、手续费和滑点假设影响。</a:t>
            </a:r>
            <a:endParaRPr sz="16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86600" y="3017520"/>
            <a:ext cx="40690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86600" y="3017520"/>
            <a:ext cx="73152" cy="17830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6056" y="3182112"/>
            <a:ext cx="3657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建议记录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06056" y="3584448"/>
            <a:ext cx="365760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每次回测记录：品种、具体合约、周期、日期范围、策略、权益和关键风控参数。不要只记录最终收益。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盘中行情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盘中行情：查看实时状态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11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6035040" cy="3383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选择周期</a:t>
            </a:r>
            <a:r>
              <a:rPr sz="1600">
                <a:solidFill>
                  <a:srgbClr val="18232D"/>
                </a:solidFill>
                <a:latin typeface="微软雅黑"/>
              </a:rPr>
              <a:t>支持 1、5、15、30、60 分钟报价和 K 线。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刷新频率</a:t>
            </a:r>
            <a:r>
              <a:rPr sz="1600">
                <a:solidFill>
                  <a:srgbClr val="18232D"/>
                </a:solidFill>
                <a:latin typeface="微软雅黑"/>
              </a:rPr>
              <a:t>报价约 1.5 秒刷新；K 线约 5 秒检查更新，实际速度受数据源和网络影响。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活跃合约</a:t>
            </a:r>
            <a:r>
              <a:rPr sz="1600">
                <a:solidFill>
                  <a:srgbClr val="18232D"/>
                </a:solidFill>
                <a:latin typeface="微软雅黑"/>
              </a:rPr>
              <a:t>系统优先比较成交量，接近时参考持仓量，并通过连续确认避免频繁换月。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回测当前行情</a:t>
            </a:r>
            <a:r>
              <a:rPr sz="1600">
                <a:solidFill>
                  <a:srgbClr val="18232D"/>
                </a:solidFill>
                <a:latin typeface="微软雅黑"/>
              </a:rPr>
              <a:t>将已经产生的当日行情送入回测，结果显示在当前页面下方。</a:t>
            </a:r>
            <a:endParaRPr sz="16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78040" y="1737360"/>
            <a:ext cx="3977639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40" y="173736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1901952"/>
            <a:ext cx="356615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行情显示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7496" y="2304288"/>
            <a:ext cx="3566159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顶部报价区展示最新价、涨跌、买卖一档、成交量和持仓量；K 线支持十字光标，移动鼠标可以查看柱体时间和 OHLCV 数据。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78040" y="3977639"/>
            <a:ext cx="397763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78040" y="3977639"/>
            <a:ext cx="73152" cy="13716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4142231"/>
            <a:ext cx="356615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实时数据异常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97496" y="4544568"/>
            <a:ext cx="3566159" cy="685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看到“行情获取失败”时，先确认网络、数据源可用性和本地采集范围；不应把异常数据当作成交依据。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模拟模式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历史行情回放：逐根或自动播放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12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选择历史回放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79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7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设置日期窗口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636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2355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载入回放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783080"/>
            <a:ext cx="200253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推进一根 / 自动播放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7844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83564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0879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停止并查看日志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20040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200400"/>
            <a:ext cx="73152" cy="164592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3364992"/>
            <a:ext cx="30632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分钟日内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6695" y="3767328"/>
            <a:ext cx="3063239" cy="960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选择回放开始日期和结束日期；周末、法定节假日和无行情日期不计入实际回放日。夜盘按下一交易日归属。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0" y="320040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200400"/>
            <a:ext cx="73152" cy="164592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364992"/>
            <a:ext cx="30632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日线跨日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08576" y="3767328"/>
            <a:ext cx="3063239" cy="960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适合研究日线策略和跨日持仓规则。日线模式的时间窗口在历史回放设置中选择。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01000" y="320040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3200400"/>
            <a:ext cx="73152" cy="164592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3364992"/>
            <a:ext cx="306323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播放控制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0456" y="3767328"/>
            <a:ext cx="3063239" cy="960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“推进一根”手动推进一根已完成 K 线；“自动播放”按选定速度逐根推进。启动后可在 K 线上观察开平仓标记。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模拟交易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模拟盘：成交、委托和提示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13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71907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市价立即成交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121408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信号满足条件后按当前模拟成交规则成交，适合快速验证策略逻辑。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71907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限价挂单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8576" y="2121408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设置限价偏移点数，委托进入当前委托；只有行情满足价格条件并完成模拟撮合后才转为成交。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01000" y="1554480"/>
            <a:ext cx="3429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554480"/>
            <a:ext cx="73152" cy="141732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1907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本地模拟撮合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456" y="2121408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完全在本机完成，适合离线历史回放和本地盘中模拟。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当前委托</a:t>
            </a:r>
            <a:r>
              <a:rPr sz="1600">
                <a:solidFill>
                  <a:srgbClr val="18232D"/>
                </a:solidFill>
                <a:latin typeface="微软雅黑"/>
              </a:rPr>
              <a:t>查看尚未成交的挂单。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历史委托</a:t>
            </a:r>
            <a:r>
              <a:rPr sz="1600">
                <a:solidFill>
                  <a:srgbClr val="18232D"/>
                </a:solidFill>
                <a:latin typeface="微软雅黑"/>
              </a:rPr>
              <a:t>查看已撤销、已成交或结束的委托。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交易提示音</a:t>
            </a:r>
            <a:r>
              <a:rPr sz="1600">
                <a:solidFill>
                  <a:srgbClr val="18232D"/>
                </a:solidFill>
                <a:latin typeface="微软雅黑"/>
              </a:rPr>
              <a:t>开仓、平仓时播放提示；可在页面开关关闭。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桌面弹窗</a:t>
            </a:r>
            <a:r>
              <a:rPr sz="1600">
                <a:solidFill>
                  <a:srgbClr val="18232D"/>
                </a:solidFill>
                <a:latin typeface="微软雅黑"/>
              </a:rPr>
              <a:t>显示品种和开仓 / 平仓方向；可独立关闭。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立即停止</a:t>
            </a:r>
            <a:r>
              <a:rPr sz="1600">
                <a:solidFill>
                  <a:srgbClr val="18232D"/>
                </a:solidFill>
                <a:latin typeface="微软雅黑"/>
              </a:rPr>
              <a:t>停止策略继续产生新交易；停止前应处理持仓和委托。</a:t>
            </a:r>
            <a:endParaRPr sz="160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模拟统计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模拟统计：按品种、策略和会话筛选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14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400800" cy="3886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筛选条件</a:t>
            </a:r>
            <a:r>
              <a:rPr sz="1700">
                <a:solidFill>
                  <a:srgbClr val="18232D"/>
                </a:solidFill>
                <a:latin typeface="微软雅黑"/>
              </a:rPr>
              <a:t>开始日期、结束日期、品种、策略、模式和关键词。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组合统计</a:t>
            </a:r>
            <a:r>
              <a:rPr sz="1700">
                <a:solidFill>
                  <a:srgbClr val="18232D"/>
                </a:solidFill>
                <a:latin typeface="微软雅黑"/>
              </a:rPr>
              <a:t>品种 · 策略 · 周期组合，查看交易数、胜率、净利润、平均盈亏和盈亏比。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会话追溯</a:t>
            </a:r>
            <a:r>
              <a:rPr sz="1700">
                <a:solidFill>
                  <a:srgbClr val="18232D"/>
                </a:solidFill>
                <a:latin typeface="微软雅黑"/>
              </a:rPr>
              <a:t>每次启动形成一组会话，记录参数、初始权益、结束权益、手续费和净利润。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交易明细</a:t>
            </a:r>
            <a:r>
              <a:rPr sz="1700">
                <a:solidFill>
                  <a:srgbClr val="18232D"/>
                </a:solidFill>
                <a:latin typeface="微软雅黑"/>
              </a:rPr>
              <a:t>点击“查看样本”或展开会话后查看具体开平仓记录。默认会话详情收起。</a:t>
            </a:r>
            <a:endParaRPr sz="17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182880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3256" y="1993392"/>
            <a:ext cx="315467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权益如何变化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3256" y="2395728"/>
            <a:ext cx="3154679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结束权益 = 初始权益 + 已实现毛盈亏 - 手续费 - 其他已记录成本。浮动盈亏会随持仓行情变化，平仓后进入已实现统计。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43800" y="4114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4114800"/>
            <a:ext cx="73152" cy="128016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4279392"/>
            <a:ext cx="3154679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样本不足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63256" y="4681728"/>
            <a:ext cx="3154679" cy="5943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当前系统以已平仓交易数作为样本量参考；交易数过少时不要据此判断策略长期表现。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策略诊断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策略诊断：定位“信号少”或“开仓少”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15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原始信号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7479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15467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通过成本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636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2355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通过净盈亏比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通过其他过滤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104119" y="178308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61319" y="160020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34472" y="178308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实际开仓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3063240"/>
            <a:ext cx="6217920" cy="23317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风控或交易时段限制</a:t>
            </a:r>
            <a:r>
              <a:rPr sz="1600">
                <a:solidFill>
                  <a:srgbClr val="18232D"/>
                </a:solidFill>
                <a:latin typeface="微软雅黑"/>
              </a:rPr>
              <a:t>收盘前禁开仓、强制平仓、每日亏损熔断等。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行情状态不匹配</a:t>
            </a:r>
            <a:r>
              <a:rPr sz="1600">
                <a:solidFill>
                  <a:srgbClr val="18232D"/>
                </a:solidFill>
                <a:latin typeface="微软雅黑"/>
              </a:rPr>
              <a:t>策略只允许趋势、震荡或高波动中的某类行情。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冷却期未结束</a:t>
            </a:r>
            <a:r>
              <a:rPr sz="1600">
                <a:solidFill>
                  <a:srgbClr val="18232D"/>
                </a:solidFill>
                <a:latin typeface="微软雅黑"/>
              </a:rPr>
              <a:t>上一笔平仓后尚未达到等待的 K 线数。</a:t>
            </a:r>
            <a:endParaRPr sz="16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3B8A6"/>
                </a:solidFill>
                <a:latin typeface="微软雅黑"/>
              </a:rPr>
              <a:t>• </a:t>
            </a:r>
            <a:r>
              <a:rPr sz="1600" b="1">
                <a:solidFill>
                  <a:srgbClr val="18232D"/>
                </a:solidFill>
                <a:latin typeface="微软雅黑"/>
              </a:rPr>
              <a:t>样本不足</a:t>
            </a:r>
            <a:r>
              <a:rPr sz="1600">
                <a:solidFill>
                  <a:srgbClr val="18232D"/>
                </a:solidFill>
                <a:latin typeface="微软雅黑"/>
              </a:rPr>
              <a:t>行情识别需要足够历史数据，数据不足时不放行。</a:t>
            </a:r>
            <a:endParaRPr sz="16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0" y="3108960"/>
            <a:ext cx="38404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310896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4656" y="3273552"/>
            <a:ext cx="34290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如何使用诊断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34656" y="3675887"/>
            <a:ext cx="342900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先按品种和策略筛选，再比较各层数量。若原始信号很多但实际开仓很少，优先检查准入参数；若实际开仓后持续亏损，再检查信号方向、数据和成本假设。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新闻雷达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新闻雷达：辅助观察风险事件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16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6583680" cy="3749039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刷新新闻</a:t>
            </a:r>
            <a:r>
              <a:rPr sz="1700">
                <a:solidFill>
                  <a:srgbClr val="18232D"/>
                </a:solidFill>
                <a:latin typeface="微软雅黑"/>
              </a:rPr>
              <a:t>点击“刷新新闻”请求新闻源并更新缓存。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关联筛选</a:t>
            </a:r>
            <a:r>
              <a:rPr sz="1700">
                <a:solidFill>
                  <a:srgbClr val="18232D"/>
                </a:solidFill>
                <a:latin typeface="微软雅黑"/>
              </a:rPr>
              <a:t>按品种或关键词筛选相关资讯，优先关注影响供需、政策、库存和突发事件的内容。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重要新闻提醒</a:t>
            </a:r>
            <a:r>
              <a:rPr sz="1700">
                <a:solidFill>
                  <a:srgbClr val="18232D"/>
                </a:solidFill>
                <a:latin typeface="微软雅黑"/>
              </a:rPr>
              <a:t>浏览器允许通知时，可对重要新闻弹出桌面提醒；系统是否有声音取决于提示配置。</a:t>
            </a:r>
            <a:endParaRPr sz="1700">
              <a:solidFill>
                <a:srgbClr val="18232D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700">
                <a:solidFill>
                  <a:srgbClr val="13B8A6"/>
                </a:solidFill>
                <a:latin typeface="微软雅黑"/>
              </a:rPr>
              <a:t>• </a:t>
            </a:r>
            <a:r>
              <a:rPr sz="1700" b="1">
                <a:solidFill>
                  <a:srgbClr val="18232D"/>
                </a:solidFill>
                <a:latin typeface="微软雅黑"/>
              </a:rPr>
              <a:t>正确定位</a:t>
            </a:r>
            <a:r>
              <a:rPr sz="1700">
                <a:solidFill>
                  <a:srgbClr val="18232D"/>
                </a:solidFill>
                <a:latin typeface="微软雅黑"/>
              </a:rPr>
              <a:t>新闻雷达是辅助信息，不是自动交易信号；需要结合行情、成交量、持仓量和策略规则判断。</a:t>
            </a:r>
            <a:endParaRPr sz="170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26679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993392"/>
            <a:ext cx="2971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数据源提示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46136" y="2395728"/>
            <a:ext cx="297180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新闻数据可用性受网络、接口开放程度和来源稳定性影响。出现空列表不代表市场没有新闻，应查看页面更新时间和错误提示。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数据管理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行情 K 线与后台采集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17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73152" cy="20116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7190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行情 K 线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121408"/>
            <a:ext cx="4846320" cy="132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独立查看品种和具体合约的 K 线，支持十字光标、时间范围和成交量；历史回放结果会在 K 线上叠加多、空、平多、平空标记。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73152" cy="20116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7190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后台采集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91656" y="2121408"/>
            <a:ext cx="4846320" cy="132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应用启动时后台探测并采集已发现、仍在交易的具体月份合约 5 分钟行情；默认全量处理，不限制每轮合约数量。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43251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采集状态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6695" y="472744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顶部状态标识和行情 K 线页面显示进行中、完成、部分成功或失败；列表展示最近记录、成功数量、失败合约和新增 K 线数量。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416052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432511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数据保留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91656" y="472744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交割月或已归档合约停止增量请求，但已有历史 K 线保留，可继续选择具体月份进行研究。重复采集按唯一键去重。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维护操作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账户重置、保存配置和更新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18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保存配置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167128"/>
            <a:ext cx="301752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在左侧输入配置名称，点击“保存配置”；下次从下拉框选择后点击“加载配置”。加载配置会恢复交易参数，不等于自动修改已实现的历史盈亏。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仅重置账户权益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8576" y="2167128"/>
            <a:ext cx="301752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恢复资金和权益，保留历史交易、会话、委托记录和统计。适合重新开始模拟资金但保留研究记录。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01000" y="16002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600200"/>
            <a:ext cx="73152" cy="18288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彻底重置账户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456" y="2167128"/>
            <a:ext cx="301752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>
                <a:solidFill>
                  <a:srgbClr val="18232D"/>
                </a:solidFill>
                <a:latin typeface="微软雅黑"/>
              </a:rPr>
              <a:t>恢复资金和权益，同时清空模拟交易历史、会话、委托记录和统计。执行前必须停止模拟交易并确认。</a:t>
            </a:r>
            <a:endParaRPr sz="14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5" y="42336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检查更新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6695" y="463600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点击顶部版本号按钮读取公开 Release。系统会显示当前版本、最新版本、更新说明和对应系统的下载包。更新不会自动删除本地数据。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72200" y="4069080"/>
            <a:ext cx="52578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406908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233672"/>
            <a:ext cx="4846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发布原则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656" y="4636008"/>
            <a:ext cx="484632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18232D"/>
                </a:solidFill>
                <a:latin typeface="微软雅黑"/>
              </a:rPr>
              <a:t>源码仓库可以保持私有；安装包发布在公开仓库。正式发布建议使用版本标签和对应 Release，旧版本保留用于回退。</a:t>
            </a:r>
            <a:endParaRPr sz="15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实践流程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三条推荐工作流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19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73152" cy="233172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策略研究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167128"/>
            <a:ext cx="3017520" cy="16459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选择真实行情 → 固定品种和日期 → 先研究信号回测 → 再严格模拟回测 → 查看交易点和诊断 → 更换样本验证。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73152" cy="233172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日内历史回放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8576" y="2167128"/>
            <a:ext cx="3017520" cy="16459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选择 5 分钟 → 选择日内策略 → 设置连续日期 → 确认手续费、滑点和风控 → 载入历史回放 → 自动播放 → 查看会话统计。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01000" y="160020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600200"/>
            <a:ext cx="73152" cy="233172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1764792"/>
            <a:ext cx="30175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盘中模拟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0456" y="2167128"/>
            <a:ext cx="3017520" cy="16459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>
                <a:solidFill>
                  <a:srgbClr val="18232D"/>
                </a:solidFill>
                <a:latin typeface="微软雅黑"/>
              </a:rPr>
              <a:t>确认行情刷新 → 选择具体活跃合约 → 选择本地模拟撮合 → 设置提示开关 → 启动模拟交易 → 观察委托和持仓 → 停止并复盘。</a:t>
            </a:r>
            <a:endParaRPr sz="16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000" b="1">
                <a:solidFill>
                  <a:srgbClr val="10243D"/>
                </a:solidFill>
                <a:latin typeface="微软雅黑"/>
              </a:rPr>
              <a:t>统一原则：一次只改变一个变量，保留会话记录，先验证数据，再评价策略。</a:t>
            </a:r>
            <a:endParaRPr sz="2000" b="1">
              <a:solidFill>
                <a:srgbClr val="10243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1">
                <a:solidFill>
                  <a:srgbClr val="13B8A6"/>
                </a:solidFill>
                <a:latin typeface="微软雅黑"/>
              </a:rPr>
              <a:t>故障排查</a:t>
            </a:r>
            <a:endParaRPr sz="10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2412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600" b="1">
                <a:solidFill>
                  <a:srgbClr val="10243D"/>
                </a:solidFill>
                <a:latin typeface="微软雅黑"/>
              </a:rPr>
              <a:t>常见问题与安全边界</a:t>
            </a:r>
            <a:endParaRPr sz="26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1000232" cy="10972"/>
          </a:xfrm>
          <a:prstGeom prst="rect">
            <a:avLst/>
          </a:prstGeom>
          <a:solidFill>
            <a:srgbClr val="D8E1E7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900" b="0">
                <a:solidFill>
                  <a:srgbClr val="65727D"/>
                </a:solidFill>
                <a:latin typeface="微软雅黑"/>
              </a:rPr>
              <a:t>20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320040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>
                <a:solidFill>
                  <a:srgbClr val="65727D"/>
                </a:solidFill>
                <a:latin typeface="微软雅黑"/>
              </a:rPr>
              <a:t>期市智投 · 用户使用说明书</a:t>
            </a:r>
            <a:endParaRPr sz="900" b="0">
              <a:solidFill>
                <a:srgbClr val="65727D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73152" cy="11430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1673351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页面显示旧版本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5" y="2075688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完全退出旧应用进程，重新打开正式版；不要同时运行源码版和正式版。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59" y="1508760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59" y="1508760"/>
            <a:ext cx="73152" cy="11430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673351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所选日期没有行情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28816" y="2075688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查看具体合约的本地数据范围；主连和具体月份的历史范围可能不同。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990088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990088"/>
            <a:ext cx="73152" cy="11430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" y="3154680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启动失败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6695" y="3557016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检查品种、具体合约、日期范围、周期、数据模式和是否已有运行中的模拟交易。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59" y="2990088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59" y="2990088"/>
            <a:ext cx="73152" cy="1143000"/>
          </a:xfrm>
          <a:prstGeom prst="roundRect">
            <a:avLst>
              <a:gd name="adj" fmla="val 8000"/>
            </a:avLst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154680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没有成交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28816" y="3557016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可能没有策略信号，也可能被成本、净盈亏比、行情过滤、冷却期或风控拦截。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4471416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471416"/>
            <a:ext cx="73152" cy="1143000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4636008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日志或权益异常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6695" y="5038344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先查看会话模式和结束原因，不要直接重置账户；彻底重置会清空历史统计。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09359" y="4471416"/>
            <a:ext cx="5074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59" y="4471416"/>
            <a:ext cx="73152" cy="1143000"/>
          </a:xfrm>
          <a:prstGeom prst="roundRect">
            <a:avLst>
              <a:gd name="adj" fmla="val 8000"/>
            </a:avLst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636008"/>
            <a:ext cx="466344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1">
                <a:solidFill>
                  <a:srgbClr val="10243D"/>
                </a:solidFill>
                <a:latin typeface="微软雅黑"/>
              </a:rPr>
              <a:t>安全提醒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28816" y="5038344"/>
            <a:ext cx="4663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300" b="0">
                <a:solidFill>
                  <a:srgbClr val="18232D"/>
                </a:solidFill>
                <a:latin typeface="微软雅黑"/>
              </a:rPr>
              <a:t>当前工具定位为研究和模拟交易。任何真实交易都需要独立验证数据、手续费、保证金和交易所规则。</a:t>
            </a:r>
            <a:endParaRPr sz="1300" b="0">
              <a:solidFill>
                <a:srgbClr val="18232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D"/>
          </a:solidFill>
          <a:ln>
            <a:solidFill>
              <a:srgbClr val="10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10243D"/>
          </a:solidFill>
          <a:ln>
            <a:solidFill>
              <a:srgbClr val="10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4818" y="1376172"/>
            <a:ext cx="641908" cy="518464"/>
          </a:xfrm>
          <a:prstGeom prst="rect">
            <a:avLst/>
          </a:prstGeom>
          <a:solidFill>
            <a:srgbClr val="F4F7F8"/>
          </a:solidFill>
          <a:ln>
            <a:solidFill>
              <a:srgbClr val="F4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262" y="1660093"/>
            <a:ext cx="123444" cy="185166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3428" y="1561338"/>
            <a:ext cx="123444" cy="283921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8594" y="1697126"/>
            <a:ext cx="123444" cy="148132"/>
          </a:xfrm>
          <a:prstGeom prst="rect">
            <a:avLst/>
          </a:prstGeom>
          <a:solidFill>
            <a:srgbClr val="13B8A6"/>
          </a:solidFill>
          <a:ln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262" y="1968703"/>
            <a:ext cx="444398" cy="55549"/>
          </a:xfrm>
          <a:prstGeom prst="roundRect">
            <a:avLst>
              <a:gd name="adj" fmla="val 8000"/>
            </a:avLst>
          </a:prstGeom>
          <a:solidFill>
            <a:srgbClr val="E3B341"/>
          </a:solidFill>
          <a:ln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7972" y="1203350"/>
            <a:ext cx="160477" cy="160477"/>
          </a:xfrm>
          <a:prstGeom prst="ellipse">
            <a:avLst/>
          </a:prstGeom>
          <a:solidFill>
            <a:srgbClr val="EF6B62"/>
          </a:solidFill>
          <a:ln>
            <a:solidFill>
              <a:srgbClr val="EF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143000"/>
            <a:ext cx="5943600" cy="594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/>
              </a:rPr>
              <a:t>开始使用</a:t>
            </a:r>
            <a:endParaRPr sz="3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7712" y="1993392"/>
            <a:ext cx="777240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100" b="0">
                <a:solidFill>
                  <a:srgbClr val="D7E5EA"/>
                </a:solidFill>
                <a:latin typeface="微软雅黑"/>
              </a:rPr>
              <a:t>先打开正式版，选择一个品种和一段明确的历史数据。</a:t>
            </a:r>
            <a:endParaRPr sz="2100" b="0">
              <a:solidFill>
                <a:srgbClr val="D7E5EA"/>
              </a:solidFill>
              <a:latin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3756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看数据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97479" y="333756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154679" y="3154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333756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做回测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66360" y="333756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23559" y="3154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333756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看诊断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35240" y="3337560"/>
            <a:ext cx="4114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200" b="1">
                <a:solidFill>
                  <a:srgbClr val="13B8A6"/>
                </a:solidFill>
                <a:latin typeface="微软雅黑"/>
              </a:rPr>
              <a:t>→</a:t>
            </a:r>
            <a:endParaRPr sz="2200" b="1">
              <a:solidFill>
                <a:srgbClr val="13B8A6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2440" y="3154680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3337560"/>
            <a:ext cx="172821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500" b="1">
                <a:solidFill>
                  <a:srgbClr val="10243D"/>
                </a:solidFill>
                <a:latin typeface="微软雅黑"/>
              </a:rPr>
              <a:t>再模拟</a:t>
            </a:r>
            <a:endParaRPr sz="1500" b="1">
              <a:solidFill>
                <a:srgbClr val="10243D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86000" y="5212080"/>
            <a:ext cx="3657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1">
                <a:solidFill>
                  <a:srgbClr val="E3B341"/>
                </a:solidFill>
                <a:latin typeface="微软雅黑"/>
              </a:rPr>
              <a:t>期市智投 v1.1.4</a:t>
            </a:r>
            <a:endParaRPr sz="1600" b="1">
              <a:solidFill>
                <a:srgbClr val="E3B341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86000" y="5669280"/>
            <a:ext cx="5486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>
                <a:solidFill>
                  <a:srgbClr val="B7CAD3"/>
                </a:solidFill>
                <a:latin typeface="微软雅黑"/>
              </a:rPr>
              <a:t>研究先行，记录完整，谨慎使用。</a:t>
            </a:r>
            <a:endParaRPr sz="1500" b="0">
              <a:solidFill>
                <a:srgbClr val="B7CAD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5161</Words>
  <Application>WPS 演示</Application>
  <PresentationFormat>On-screen Show (4:3)</PresentationFormat>
  <Paragraphs>563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STHeiti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mac</cp:lastModifiedBy>
  <cp:revision>2</cp:revision>
  <dcterms:created xsi:type="dcterms:W3CDTF">2026-09-19T10:47:05Z</dcterms:created>
  <dcterms:modified xsi:type="dcterms:W3CDTF">2026-09-19T10:47:05Z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E04DA1762396C3242968AE6AC5D78A48_42</vt:lpwstr>
  </property>
  <property fmtid="{D5CDD505-2E9C-101B-9397-08002B2CF9AE}" pid="3" name="KSOProductBuildVer">
    <vt:lpwstr>2052-12.1.26016.26016</vt:lpwstr>
  </property>
</Properties>
</file>